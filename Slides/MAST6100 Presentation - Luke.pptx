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Montserrat"/>
      <p:regular r:id="rId12"/>
      <p:bold r:id="rId13"/>
      <p:italic r:id="rId14"/>
      <p:boldItalic r:id="rId15"/>
    </p:embeddedFont>
    <p:embeddedFont>
      <p:font typeface="La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ontserrat-bold.fntdata"/><Relationship Id="rId12"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Italic.fntdata"/><Relationship Id="rId14" Type="http://schemas.openxmlformats.org/officeDocument/2006/relationships/font" Target="fonts/Montserrat-italic.fntdata"/><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notesMaster" Target="notesMasters/notesMaster1.xml"/><Relationship Id="rId19" Type="http://schemas.openxmlformats.org/officeDocument/2006/relationships/font" Target="fonts/Lato-boldItalic.fntdata"/><Relationship Id="rId6" Type="http://schemas.openxmlformats.org/officeDocument/2006/relationships/slide" Target="slides/slide1.xml"/><Relationship Id="rId18"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925231216314849?via%3Dihub" TargetMode="External"/><Relationship Id="rId3" Type="http://schemas.openxmlformats.org/officeDocument/2006/relationships/hyperlink" Target="https://www.scirp.org/journal/paperinformation?paperid=121495"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f5050a7c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f5050a7c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200">
                <a:solidFill>
                  <a:schemeClr val="dk1"/>
                </a:solidFill>
                <a:latin typeface="Lato"/>
                <a:ea typeface="Lato"/>
                <a:cs typeface="Lato"/>
                <a:sym typeface="Lato"/>
              </a:rPr>
              <a:t>Customer churn—the likelihood that a customer leaves a service— this poses a major financial challenge in subscription-based industries such as telecommunications. Retaining customers is more cost-effective than acquiring new ones, making churn prediction (and prevention) an essential task in applied machine learning.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latin typeface="Lato"/>
                <a:ea typeface="Lato"/>
                <a:cs typeface="Lato"/>
                <a:sym typeface="Lato"/>
              </a:rPr>
              <a:t>The Telco Customer Churn dataset provides real-world customer records for predicting whether a telecom customer will leave the service. This topic is appealing because:</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It is a well-studied business problem with practical importance.</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The dataset is rich, containing over 7,000 observations, 20+ features and with a kaggle usability score of 8.82, enabling the use of a range of different models.</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It allows for comparing both classical statistical methods and modern machine-learning/deep-learning approaches.</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latin typeface="Lato"/>
                <a:ea typeface="Lato"/>
                <a:cs typeface="Lato"/>
                <a:sym typeface="Lato"/>
              </a:rPr>
              <a:t>Recent academic research continues to explore churn prediction using machine learning. Studies such as </a:t>
            </a:r>
            <a:r>
              <a:rPr lang="en-GB" sz="1200" u="sng">
                <a:solidFill>
                  <a:schemeClr val="dk1"/>
                </a:solidFill>
                <a:latin typeface="Lato"/>
                <a:ea typeface="Lato"/>
                <a:cs typeface="Lato"/>
                <a:sym typeface="Lato"/>
                <a:hlinkClick r:id="rId2">
                  <a:extLst>
                    <a:ext uri="{A12FA001-AC4F-418D-AE19-62706E023703}">
                      <ahyp:hlinkClr val="tx"/>
                    </a:ext>
                  </a:extLst>
                </a:hlinkClick>
              </a:rPr>
              <a:t>Amin et al. (2017)</a:t>
            </a:r>
            <a:r>
              <a:rPr lang="en-GB" sz="1200">
                <a:solidFill>
                  <a:schemeClr val="dk1"/>
                </a:solidFill>
                <a:latin typeface="Lato"/>
                <a:ea typeface="Lato"/>
                <a:cs typeface="Lato"/>
                <a:sym typeface="Lato"/>
              </a:rPr>
              <a:t> and </a:t>
            </a:r>
            <a:r>
              <a:rPr lang="en-GB" sz="1200" u="sng">
                <a:solidFill>
                  <a:schemeClr val="dk1"/>
                </a:solidFill>
                <a:latin typeface="Lato"/>
                <a:ea typeface="Lato"/>
                <a:cs typeface="Lato"/>
                <a:sym typeface="Lato"/>
                <a:hlinkClick r:id="rId3">
                  <a:extLst>
                    <a:ext uri="{A12FA001-AC4F-418D-AE19-62706E023703}">
                      <ahyp:hlinkClr val="tx"/>
                    </a:ext>
                  </a:extLst>
                </a:hlinkClick>
              </a:rPr>
              <a:t>Peng &amp; Peng (2022)</a:t>
            </a:r>
            <a:r>
              <a:rPr lang="en-GB" sz="1200">
                <a:solidFill>
                  <a:schemeClr val="dk1"/>
                </a:solidFill>
                <a:latin typeface="Lato"/>
                <a:ea typeface="Lato"/>
                <a:cs typeface="Lato"/>
                <a:sym typeface="Lato"/>
              </a:rPr>
              <a:t> demonstrate that advanced techniques like deep learning and XGBoost often outperform classical statistical models such as logistic regression, highlighting the need to evaluate a range of methods.</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latin typeface="Lato"/>
                <a:ea typeface="Lato"/>
                <a:cs typeface="Lato"/>
                <a:sym typeface="Lato"/>
              </a:rPr>
              <a:t>This project aims to build upon these findings using the methods we have learned in the course.</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f5050a7cf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f5050a7cf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Main question is stated here with us wanting to be able to model customer churn the best based on a range of factors with the aim that successfully being able to predict customer churn will help to be able to identify at risk customers and prevent customer churn.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f5050a7cf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f5050a7cf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GB" sz="1200">
                <a:solidFill>
                  <a:schemeClr val="dk1"/>
                </a:solidFill>
                <a:latin typeface="Lato"/>
                <a:ea typeface="Lato"/>
                <a:cs typeface="Lato"/>
                <a:sym typeface="Lato"/>
              </a:rPr>
              <a:t>The dataset source is Kaggle: Telco Customer Churn dataset — collected from a telecommunications company providing information about customer behaviour, subscription details, and churn status.</a:t>
            </a:r>
            <a:endParaRPr sz="1200">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rPr lang="en-GB" sz="1200">
                <a:solidFill>
                  <a:schemeClr val="dk1"/>
                </a:solidFill>
                <a:latin typeface="Lato"/>
                <a:ea typeface="Lato"/>
                <a:cs typeface="Lato"/>
                <a:sym typeface="Lato"/>
              </a:rPr>
              <a:t>Data downloaded as a CSV file from Kaggle and imported into R using read.csv().</a:t>
            </a:r>
            <a:endParaRPr sz="1200">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rPr lang="en-GB" sz="1200" u="sng">
                <a:solidFill>
                  <a:schemeClr val="dk1"/>
                </a:solidFill>
                <a:latin typeface="Lato"/>
                <a:ea typeface="Lato"/>
                <a:cs typeface="Lato"/>
                <a:sym typeface="Lato"/>
              </a:rPr>
              <a:t>Variables:</a:t>
            </a:r>
            <a:endParaRPr sz="1200" u="sng">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rPr lang="en-GB" sz="1200">
                <a:solidFill>
                  <a:schemeClr val="dk1"/>
                </a:solidFill>
                <a:latin typeface="Lato"/>
                <a:ea typeface="Lato"/>
                <a:cs typeface="Lato"/>
                <a:sym typeface="Lato"/>
              </a:rPr>
              <a:t>~7,000 customers</a:t>
            </a:r>
            <a:endParaRPr sz="1200">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rPr lang="en-GB" sz="1200">
                <a:solidFill>
                  <a:schemeClr val="dk1"/>
                </a:solidFill>
                <a:latin typeface="Lato"/>
                <a:ea typeface="Lato"/>
                <a:cs typeface="Lato"/>
                <a:sym typeface="Lato"/>
              </a:rPr>
              <a:t>21 variables including:</a:t>
            </a:r>
            <a:endParaRPr sz="1200">
              <a:solidFill>
                <a:schemeClr val="dk1"/>
              </a:solidFill>
              <a:latin typeface="Lato"/>
              <a:ea typeface="Lato"/>
              <a:cs typeface="Lato"/>
              <a:sym typeface="Lato"/>
            </a:endParaRPr>
          </a:p>
          <a:p>
            <a:pPr indent="-304800" lvl="0" marL="457200" rtl="0" algn="l">
              <a:lnSpc>
                <a:spcPct val="9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Demographic features: gender, senior citizen, partner, dependents</a:t>
            </a:r>
            <a:endParaRPr sz="1200">
              <a:solidFill>
                <a:schemeClr val="dk1"/>
              </a:solidFill>
              <a:latin typeface="Lato"/>
              <a:ea typeface="Lato"/>
              <a:cs typeface="Lato"/>
              <a:sym typeface="Lato"/>
            </a:endParaRPr>
          </a:p>
          <a:p>
            <a:pPr indent="-304800" lvl="0" marL="457200" rtl="0" algn="l">
              <a:lnSpc>
                <a:spcPct val="9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Account information: tenure, contract type, monthly charges, total charges</a:t>
            </a:r>
            <a:endParaRPr sz="1200">
              <a:solidFill>
                <a:schemeClr val="dk1"/>
              </a:solidFill>
              <a:latin typeface="Lato"/>
              <a:ea typeface="Lato"/>
              <a:cs typeface="Lato"/>
              <a:sym typeface="Lato"/>
            </a:endParaRPr>
          </a:p>
          <a:p>
            <a:pPr indent="-304800" lvl="0" marL="457200" rtl="0" algn="l">
              <a:lnSpc>
                <a:spcPct val="9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Service subscriptions: internet service, phone service, multiple lines, tech support, etc.</a:t>
            </a:r>
            <a:endParaRPr sz="1200">
              <a:solidFill>
                <a:schemeClr val="dk1"/>
              </a:solidFill>
              <a:latin typeface="Lato"/>
              <a:ea typeface="Lato"/>
              <a:cs typeface="Lato"/>
              <a:sym typeface="Lato"/>
            </a:endParaRPr>
          </a:p>
          <a:p>
            <a:pPr indent="-304800" lvl="0" marL="457200" rtl="0" algn="l">
              <a:lnSpc>
                <a:spcPct val="9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Target variable: Churn (Yes/No)</a:t>
            </a:r>
            <a:endParaRPr sz="1200">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rPr lang="en-GB" sz="1200" u="sng">
                <a:solidFill>
                  <a:schemeClr val="dk1"/>
                </a:solidFill>
                <a:latin typeface="Lato"/>
                <a:ea typeface="Lato"/>
                <a:cs typeface="Lato"/>
                <a:sym typeface="Lato"/>
              </a:rPr>
              <a:t>Initial Limitations:</a:t>
            </a:r>
            <a:endParaRPr sz="1200" u="sng">
              <a:solidFill>
                <a:schemeClr val="dk1"/>
              </a:solidFill>
              <a:latin typeface="Lato"/>
              <a:ea typeface="Lato"/>
              <a:cs typeface="Lato"/>
              <a:sym typeface="Lato"/>
            </a:endParaRPr>
          </a:p>
          <a:p>
            <a:pPr indent="-304800" lvl="0" marL="457200" rtl="0" algn="l">
              <a:lnSpc>
                <a:spcPct val="9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Some variables are categorical and require encoding</a:t>
            </a:r>
            <a:endParaRPr sz="1200">
              <a:solidFill>
                <a:schemeClr val="dk1"/>
              </a:solidFill>
              <a:latin typeface="Lato"/>
              <a:ea typeface="Lato"/>
              <a:cs typeface="Lato"/>
              <a:sym typeface="Lato"/>
            </a:endParaRPr>
          </a:p>
          <a:p>
            <a:pPr indent="-304800" lvl="0" marL="457200" rtl="0" algn="l">
              <a:lnSpc>
                <a:spcPct val="9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TotalCharges contains missing or non-numeric entries that must be cleaned</a:t>
            </a:r>
            <a:endParaRPr sz="1200">
              <a:solidFill>
                <a:schemeClr val="dk1"/>
              </a:solidFill>
              <a:latin typeface="Lato"/>
              <a:ea typeface="Lato"/>
              <a:cs typeface="Lato"/>
              <a:sym typeface="Lato"/>
            </a:endParaRPr>
          </a:p>
          <a:p>
            <a:pPr indent="-304800" lvl="0" marL="457200" rtl="0" algn="l">
              <a:lnSpc>
                <a:spcPct val="9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Strong class imbalance: ~27% churn vs 73% non-churn</a:t>
            </a:r>
            <a:endParaRPr sz="1200">
              <a:solidFill>
                <a:schemeClr val="dk1"/>
              </a:solidFill>
              <a:latin typeface="Lato"/>
              <a:ea typeface="Lato"/>
              <a:cs typeface="Lato"/>
              <a:sym typeface="Lato"/>
            </a:endParaRPr>
          </a:p>
          <a:p>
            <a:pPr indent="-304800" lvl="0" marL="457200" rtl="0" algn="l">
              <a:lnSpc>
                <a:spcPct val="95000"/>
              </a:lnSpc>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Several factors may be correlated (risk of multicollinearity for GLM)</a:t>
            </a:r>
            <a:endParaRPr sz="1200">
              <a:solidFill>
                <a:schemeClr val="dk1"/>
              </a:solidFill>
              <a:latin typeface="Lato"/>
              <a:ea typeface="Lato"/>
              <a:cs typeface="Lato"/>
              <a:sym typeface="Lato"/>
            </a:endParaRPr>
          </a:p>
          <a:p>
            <a:pPr indent="0" lvl="0" marL="0" rtl="0" algn="l">
              <a:lnSpc>
                <a:spcPct val="9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en-GB">
                <a:solidFill>
                  <a:schemeClr val="dk1"/>
                </a:solidFill>
              </a:rPr>
              <a:t>The variable TotalCharges was stored as a character vector because 11 entries contained blank spaces rather than numeric values. These blank entries were first c</a:t>
            </a:r>
            <a:r>
              <a:rPr lang="en-GB">
                <a:solidFill>
                  <a:schemeClr val="dk1"/>
                </a:solidFill>
              </a:rPr>
              <a:t>onverted to NA, after which all incomplete rows were removed. This resulted in a final modelling dataset of 7,032 complete observations. The variable wa</a:t>
            </a:r>
            <a:r>
              <a:rPr lang="en-GB">
                <a:solidFill>
                  <a:schemeClr val="dk1"/>
                </a:solidFill>
              </a:rPr>
              <a:t>s then converted to numeric to reflect its interpretation as a continuous billing-related measure.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A 70/30 train-test split was used.</a:t>
            </a:r>
            <a:endParaRPr>
              <a:solidFill>
                <a:schemeClr val="dk1"/>
              </a:solidFill>
            </a:endParaRPr>
          </a:p>
          <a:p>
            <a:pPr indent="0" lvl="0" marL="0" rtl="0" algn="l">
              <a:lnSpc>
                <a:spcPct val="95000"/>
              </a:lnSpc>
              <a:spcBef>
                <a:spcPts val="120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f5050a7cf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f5050a7cf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In this context true positive is the amount of correctly predicted churners, and true negative is the amount of correctly predicted non-churners.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Decision trees can be pruned reducing branches and nodes which may reduce </a:t>
            </a:r>
            <a:r>
              <a:rPr lang="en-GB">
                <a:solidFill>
                  <a:schemeClr val="dk1"/>
                </a:solidFill>
              </a:rPr>
              <a:t>accuracy on the training dataset but reduces variance and reduces the risk of overfitting.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Boosting (GBM) -  sequentially fits weak learners—here, decision stumps—to correct residual errors at each iteration.</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distribution = "bernoulli",   # For binary classification</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n.trees = 5000,               # Initial number of trees (we'll tune later)</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interaction.depth = 1,        # Stumps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shrinkage = 0.01,             # Learning rate</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bag.fraction = 0.5,           # Stochastic gradient boosting</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train.fraction = 1.0,         # Use full training set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n.cores = 1                   # Keeps results reproducible</a:t>
            </a:r>
            <a:endParaRPr>
              <a:solidFill>
                <a:schemeClr val="dk1"/>
              </a:solidFill>
            </a:endParaRPr>
          </a:p>
          <a:p>
            <a:pPr indent="0" lvl="0" marL="0" rtl="0" algn="l">
              <a:spcBef>
                <a:spcPts val="0"/>
              </a:spcBef>
              <a:spcAft>
                <a:spcPts val="0"/>
              </a:spcAft>
              <a:buNone/>
            </a:pPr>
            <a:r>
              <a:rPr lang="en-GB">
                <a:solidFill>
                  <a:schemeClr val="dk1"/>
                </a:solidFill>
              </a:rPr>
              <a:t>Out of bag estimation selected an optimal iteration count of 925 trees.</a:t>
            </a:r>
            <a:endParaRPr>
              <a:solidFill>
                <a:schemeClr val="dk1"/>
              </a:solidFill>
            </a:endParaRPr>
          </a:p>
          <a:p>
            <a:pPr indent="0" lvl="0" marL="0" rtl="0" algn="l">
              <a:spcBef>
                <a:spcPts val="0"/>
              </a:spcBef>
              <a:spcAft>
                <a:spcPts val="0"/>
              </a:spcAft>
              <a:buNone/>
            </a:pPr>
            <a:r>
              <a:rPr lang="en-GB">
                <a:solidFill>
                  <a:schemeClr val="dk1"/>
                </a:solidFill>
              </a:rPr>
              <a:t>Boosting also revealed the variables that were the strongest predictors.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  size  = 5,        # number of hidden units</a:t>
            </a:r>
            <a:endParaRPr>
              <a:solidFill>
                <a:schemeClr val="dk1"/>
              </a:solidFill>
            </a:endParaRPr>
          </a:p>
          <a:p>
            <a:pPr indent="0" lvl="0" marL="0" rtl="0" algn="l">
              <a:spcBef>
                <a:spcPts val="0"/>
              </a:spcBef>
              <a:spcAft>
                <a:spcPts val="0"/>
              </a:spcAft>
              <a:buNone/>
            </a:pPr>
            <a:r>
              <a:rPr lang="en-GB">
                <a:solidFill>
                  <a:schemeClr val="dk1"/>
                </a:solidFill>
              </a:rPr>
              <a:t>  decay = 5e-4,     # weight decay (regularisation)</a:t>
            </a:r>
            <a:endParaRPr>
              <a:solidFill>
                <a:schemeClr val="dk1"/>
              </a:solidFill>
            </a:endParaRPr>
          </a:p>
          <a:p>
            <a:pPr indent="0" lvl="0" marL="0" rtl="0" algn="l">
              <a:spcBef>
                <a:spcPts val="0"/>
              </a:spcBef>
              <a:spcAft>
                <a:spcPts val="0"/>
              </a:spcAft>
              <a:buNone/>
            </a:pPr>
            <a:r>
              <a:rPr lang="en-GB">
                <a:solidFill>
                  <a:schemeClr val="dk1"/>
                </a:solidFill>
              </a:rPr>
              <a:t>  maxit = 200,      # maximum iterations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Neural networks form predictions by applying weighted linear transformations to the input variables, followed by nonlinear activation functions, allowing the model to represent complex decision boundaries that cannot be captured by linear methods such as LDA.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f5050a7cf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f5050a7cf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2891225" y="1641225"/>
            <a:ext cx="62028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MAST6100 Final Project</a:t>
            </a:r>
            <a:endParaRPr/>
          </a:p>
        </p:txBody>
      </p:sp>
      <p:sp>
        <p:nvSpPr>
          <p:cNvPr id="135" name="Google Shape;135;p13"/>
          <p:cNvSpPr txBox="1"/>
          <p:nvPr>
            <p:ph idx="1" type="subTitle"/>
          </p:nvPr>
        </p:nvSpPr>
        <p:spPr>
          <a:xfrm>
            <a:off x="2621975" y="2883300"/>
            <a:ext cx="6005100" cy="1529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2000"/>
              <a:t>Predicting Telco Customer Churn </a:t>
            </a:r>
            <a:endParaRPr b="1" sz="2000"/>
          </a:p>
          <a:p>
            <a:pPr indent="0" lvl="0" marL="0" rtl="0" algn="ctr">
              <a:spcBef>
                <a:spcPts val="0"/>
              </a:spcBef>
              <a:spcAft>
                <a:spcPts val="0"/>
              </a:spcAft>
              <a:buNone/>
            </a:pPr>
            <a:r>
              <a:rPr b="1" lang="en-GB" sz="2000"/>
              <a:t>Modern Learning Models</a:t>
            </a:r>
            <a:endParaRPr b="1" sz="2000"/>
          </a:p>
          <a:p>
            <a:pPr indent="0" lvl="0" marL="0" rtl="0" algn="ctr">
              <a:spcBef>
                <a:spcPts val="0"/>
              </a:spcBef>
              <a:spcAft>
                <a:spcPts val="0"/>
              </a:spcAft>
              <a:buNone/>
            </a:pPr>
            <a:r>
              <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3000" u="sng"/>
              <a:t>Motivation/background</a:t>
            </a:r>
            <a:endParaRPr sz="3000"/>
          </a:p>
          <a:p>
            <a:pPr indent="0" lvl="0" marL="0" rtl="0" algn="l">
              <a:spcBef>
                <a:spcPts val="0"/>
              </a:spcBef>
              <a:spcAft>
                <a:spcPts val="0"/>
              </a:spcAft>
              <a:buNone/>
            </a:pPr>
            <a:r>
              <a:t/>
            </a:r>
            <a:endParaRPr/>
          </a:p>
        </p:txBody>
      </p:sp>
      <p:sp>
        <p:nvSpPr>
          <p:cNvPr id="141" name="Google Shape;141;p14"/>
          <p:cNvSpPr txBox="1"/>
          <p:nvPr>
            <p:ph idx="1" type="body"/>
          </p:nvPr>
        </p:nvSpPr>
        <p:spPr>
          <a:xfrm>
            <a:off x="1297500" y="1241175"/>
            <a:ext cx="5537100" cy="2000100"/>
          </a:xfrm>
          <a:prstGeom prst="rect">
            <a:avLst/>
          </a:prstGeom>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GB" sz="1200"/>
              <a:t>Customer churn - probability that a customer leaves </a:t>
            </a:r>
            <a:endParaRPr sz="1200"/>
          </a:p>
          <a:p>
            <a:pPr indent="0" lvl="0" marL="457200" rtl="0" algn="l">
              <a:spcBef>
                <a:spcPts val="1200"/>
              </a:spcBef>
              <a:spcAft>
                <a:spcPts val="0"/>
              </a:spcAft>
              <a:buNone/>
            </a:pPr>
            <a:r>
              <a:t/>
            </a:r>
            <a:endParaRPr sz="1200"/>
          </a:p>
          <a:p>
            <a:pPr indent="-304800" lvl="0" marL="457200" rtl="0" algn="l">
              <a:spcBef>
                <a:spcPts val="1200"/>
              </a:spcBef>
              <a:spcAft>
                <a:spcPts val="0"/>
              </a:spcAft>
              <a:buSzPts val="1200"/>
              <a:buChar char="●"/>
            </a:pPr>
            <a:r>
              <a:rPr lang="en-GB" sz="1200"/>
              <a:t>Losing customers costs the company money</a:t>
            </a:r>
            <a:endParaRPr sz="1200"/>
          </a:p>
          <a:p>
            <a:pPr indent="0" lvl="0" marL="457200" rtl="0" algn="l">
              <a:spcBef>
                <a:spcPts val="1200"/>
              </a:spcBef>
              <a:spcAft>
                <a:spcPts val="0"/>
              </a:spcAft>
              <a:buNone/>
            </a:pPr>
            <a:r>
              <a:t/>
            </a:r>
            <a:endParaRPr sz="1200"/>
          </a:p>
          <a:p>
            <a:pPr indent="-304800" lvl="0" marL="457200" rtl="0" algn="l">
              <a:spcBef>
                <a:spcPts val="1200"/>
              </a:spcBef>
              <a:spcAft>
                <a:spcPts val="0"/>
              </a:spcAft>
              <a:buSzPts val="1200"/>
              <a:buChar char="●"/>
            </a:pPr>
            <a:r>
              <a:rPr lang="en-GB" sz="1200"/>
              <a:t>It is much more effective to keep customers than get new ones to join</a:t>
            </a:r>
            <a:endParaRPr sz="1200"/>
          </a:p>
          <a:p>
            <a:pPr indent="0" lvl="0" marL="0" rtl="0" algn="l">
              <a:spcBef>
                <a:spcPts val="1200"/>
              </a:spcBef>
              <a:spcAft>
                <a:spcPts val="1200"/>
              </a:spcAft>
              <a:buNone/>
            </a:pPr>
            <a:r>
              <a:t/>
            </a:r>
            <a:endParaRPr sz="1200"/>
          </a:p>
        </p:txBody>
      </p:sp>
      <p:sp>
        <p:nvSpPr>
          <p:cNvPr id="142" name="Google Shape;142;p14"/>
          <p:cNvSpPr txBox="1"/>
          <p:nvPr>
            <p:ph idx="4294967295" type="subTitle"/>
          </p:nvPr>
        </p:nvSpPr>
        <p:spPr>
          <a:xfrm>
            <a:off x="252925" y="3488925"/>
            <a:ext cx="8763000" cy="1438200"/>
          </a:xfrm>
          <a:prstGeom prst="rect">
            <a:avLst/>
          </a:prstGeom>
          <a:ln cap="flat" cmpd="sng" w="9525">
            <a:solidFill>
              <a:srgbClr val="00FF00"/>
            </a:solidFill>
            <a:prstDash val="solid"/>
            <a:round/>
            <a:headEnd len="sm" w="sm" type="none"/>
            <a:tailEnd len="sm" w="sm" type="none"/>
          </a:ln>
        </p:spPr>
        <p:txBody>
          <a:bodyPr anchorCtr="0" anchor="t" bIns="91425" lIns="91425" spcFirstLastPara="1" rIns="91425" wrap="square" tIns="91425">
            <a:noAutofit/>
          </a:bodyPr>
          <a:lstStyle/>
          <a:p>
            <a:pPr indent="-305117" lvl="0" marL="457200" rtl="0" algn="l">
              <a:spcBef>
                <a:spcPts val="0"/>
              </a:spcBef>
              <a:spcAft>
                <a:spcPts val="0"/>
              </a:spcAft>
              <a:buSzPts val="1205"/>
              <a:buChar char="●"/>
            </a:pPr>
            <a:r>
              <a:rPr lang="en-GB" sz="1205"/>
              <a:t>Telco is a company that experiences customer churn and has a large dataset with over 7000 observations and 20 </a:t>
            </a:r>
            <a:r>
              <a:rPr lang="en-GB" sz="1205"/>
              <a:t>features</a:t>
            </a:r>
            <a:r>
              <a:rPr lang="en-GB" sz="1205"/>
              <a:t>.</a:t>
            </a:r>
            <a:endParaRPr sz="1205"/>
          </a:p>
          <a:p>
            <a:pPr indent="0" lvl="0" marL="0" rtl="0" algn="l">
              <a:spcBef>
                <a:spcPts val="1200"/>
              </a:spcBef>
              <a:spcAft>
                <a:spcPts val="0"/>
              </a:spcAft>
              <a:buSzPts val="935"/>
              <a:buNone/>
            </a:pPr>
            <a:r>
              <a:t/>
            </a:r>
            <a:endParaRPr sz="1205"/>
          </a:p>
          <a:p>
            <a:pPr indent="-305117" lvl="0" marL="457200" rtl="0" algn="l">
              <a:spcBef>
                <a:spcPts val="1200"/>
              </a:spcBef>
              <a:spcAft>
                <a:spcPts val="0"/>
              </a:spcAft>
              <a:buSzPts val="1205"/>
              <a:buChar char="●"/>
            </a:pPr>
            <a:r>
              <a:rPr lang="en-GB" sz="1205"/>
              <a:t>This should allow the use of multiple modern modelling techniques to be applied to the dataset to predict customer churn.</a:t>
            </a:r>
            <a:endParaRPr sz="1205"/>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3000" u="sng"/>
              <a:t>Research Questions</a:t>
            </a:r>
            <a:endParaRPr b="1" sz="3000" u="sng"/>
          </a:p>
        </p:txBody>
      </p:sp>
      <p:sp>
        <p:nvSpPr>
          <p:cNvPr id="148" name="Google Shape;148;p15"/>
          <p:cNvSpPr txBox="1"/>
          <p:nvPr>
            <p:ph idx="1" type="body"/>
          </p:nvPr>
        </p:nvSpPr>
        <p:spPr>
          <a:xfrm>
            <a:off x="0" y="1513675"/>
            <a:ext cx="9058200" cy="3407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GB" sz="1200"/>
              <a:t>Can customer churn be effectively predicted using demographic, account, and service-related variables?</a:t>
            </a:r>
            <a:endParaRPr sz="1200"/>
          </a:p>
          <a:p>
            <a:pPr indent="0" lvl="0" marL="0" rtl="0" algn="l">
              <a:spcBef>
                <a:spcPts val="1200"/>
              </a:spcBef>
              <a:spcAft>
                <a:spcPts val="0"/>
              </a:spcAft>
              <a:buNone/>
            </a:pPr>
            <a:r>
              <a:t/>
            </a:r>
            <a:endParaRPr sz="1200"/>
          </a:p>
          <a:p>
            <a:pPr indent="-304800" lvl="0" marL="457200" rtl="0" algn="l">
              <a:spcBef>
                <a:spcPts val="1200"/>
              </a:spcBef>
              <a:spcAft>
                <a:spcPts val="0"/>
              </a:spcAft>
              <a:buSzPts val="1200"/>
              <a:buChar char="●"/>
            </a:pPr>
            <a:r>
              <a:rPr lang="en-GB" sz="1200"/>
              <a:t>Which classification method provides the most accurate and reliable churn predictions?</a:t>
            </a:r>
            <a:endParaRPr sz="1200"/>
          </a:p>
          <a:p>
            <a:pPr indent="0" lvl="0" marL="0" rtl="0" algn="l">
              <a:spcBef>
                <a:spcPts val="1200"/>
              </a:spcBef>
              <a:spcAft>
                <a:spcPts val="0"/>
              </a:spcAft>
              <a:buNone/>
            </a:pPr>
            <a:r>
              <a:t/>
            </a:r>
            <a:endParaRPr sz="1200"/>
          </a:p>
          <a:p>
            <a:pPr indent="-304800" lvl="0" marL="457200" rtl="0" algn="l">
              <a:spcBef>
                <a:spcPts val="1200"/>
              </a:spcBef>
              <a:spcAft>
                <a:spcPts val="0"/>
              </a:spcAft>
              <a:buSzPts val="1200"/>
              <a:buChar char="●"/>
            </a:pPr>
            <a:r>
              <a:rPr lang="en-GB" sz="1200"/>
              <a:t>How do classical models (e.g., Logistic Regression) compare with more flexible models such as Random Forests, SVMs, and MLPs?</a:t>
            </a:r>
            <a:endParaRPr sz="1200"/>
          </a:p>
          <a:p>
            <a:pPr indent="0" lvl="0" marL="0" rtl="0" algn="l">
              <a:spcBef>
                <a:spcPts val="1200"/>
              </a:spcBef>
              <a:spcAft>
                <a:spcPts val="0"/>
              </a:spcAft>
              <a:buNone/>
            </a:pPr>
            <a:r>
              <a:t/>
            </a:r>
            <a:endParaRPr sz="1200"/>
          </a:p>
          <a:p>
            <a:pPr indent="-304800" lvl="0" marL="457200" rtl="0" algn="l">
              <a:spcBef>
                <a:spcPts val="1200"/>
              </a:spcBef>
              <a:spcAft>
                <a:spcPts val="0"/>
              </a:spcAft>
              <a:buSzPts val="1200"/>
              <a:buChar char="●"/>
            </a:pPr>
            <a:r>
              <a:rPr lang="en-GB" sz="1200"/>
              <a:t>Which features contribute most strongly to predicting customer churn?</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lang="en-GB" sz="3000" u="sng"/>
              <a:t>Data</a:t>
            </a:r>
            <a:endParaRPr b="1" sz="3000" u="sng"/>
          </a:p>
        </p:txBody>
      </p:sp>
      <p:sp>
        <p:nvSpPr>
          <p:cNvPr id="154" name="Google Shape;154;p16"/>
          <p:cNvSpPr txBox="1"/>
          <p:nvPr>
            <p:ph idx="1" type="body"/>
          </p:nvPr>
        </p:nvSpPr>
        <p:spPr>
          <a:xfrm>
            <a:off x="1345125" y="1348475"/>
            <a:ext cx="7038900" cy="369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n-GB"/>
              <a:t>Dataset: </a:t>
            </a:r>
            <a:r>
              <a:rPr lang="en-GB"/>
              <a:t>Telco Customer Churn - csv file from kaggle</a:t>
            </a:r>
            <a:endParaRPr/>
          </a:p>
        </p:txBody>
      </p:sp>
      <p:sp>
        <p:nvSpPr>
          <p:cNvPr id="155" name="Google Shape;155;p16"/>
          <p:cNvSpPr txBox="1"/>
          <p:nvPr>
            <p:ph idx="1" type="body"/>
          </p:nvPr>
        </p:nvSpPr>
        <p:spPr>
          <a:xfrm>
            <a:off x="1345125" y="1958075"/>
            <a:ext cx="7038900" cy="250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200"/>
              <a:t>Variables:</a:t>
            </a:r>
            <a:br>
              <a:rPr lang="en-GB" sz="1200"/>
            </a:br>
            <a:r>
              <a:rPr lang="en-GB" sz="1200"/>
              <a:t>~7000 customers (rows of data)</a:t>
            </a:r>
            <a:endParaRPr sz="1200"/>
          </a:p>
          <a:p>
            <a:pPr indent="0" lvl="0" marL="0" rtl="0" algn="l">
              <a:spcBef>
                <a:spcPts val="0"/>
              </a:spcBef>
              <a:spcAft>
                <a:spcPts val="0"/>
              </a:spcAft>
              <a:buNone/>
            </a:pPr>
            <a:r>
              <a:rPr lang="en-GB" sz="1200"/>
              <a:t>21 variables including:</a:t>
            </a:r>
            <a:endParaRPr sz="1200"/>
          </a:p>
          <a:p>
            <a:pPr indent="-304800" lvl="0" marL="457200" rtl="0" algn="l">
              <a:spcBef>
                <a:spcPts val="0"/>
              </a:spcBef>
              <a:spcAft>
                <a:spcPts val="0"/>
              </a:spcAft>
              <a:buSzPts val="1200"/>
              <a:buChar char="●"/>
            </a:pPr>
            <a:r>
              <a:rPr lang="en-GB" sz="1200"/>
              <a:t>Demographic features: gender, senior citizen, partner, dependents</a:t>
            </a:r>
            <a:endParaRPr sz="1200"/>
          </a:p>
          <a:p>
            <a:pPr indent="-304800" lvl="0" marL="457200" rtl="0" algn="l">
              <a:spcBef>
                <a:spcPts val="0"/>
              </a:spcBef>
              <a:spcAft>
                <a:spcPts val="0"/>
              </a:spcAft>
              <a:buSzPts val="1200"/>
              <a:buChar char="●"/>
            </a:pPr>
            <a:r>
              <a:rPr lang="en-GB" sz="1200"/>
              <a:t>Account information: tenure, contract type, monthly charges, total charges</a:t>
            </a:r>
            <a:endParaRPr sz="1200"/>
          </a:p>
          <a:p>
            <a:pPr indent="-304800" lvl="0" marL="457200" rtl="0" algn="l">
              <a:spcBef>
                <a:spcPts val="0"/>
              </a:spcBef>
              <a:spcAft>
                <a:spcPts val="0"/>
              </a:spcAft>
              <a:buSzPts val="1200"/>
              <a:buChar char="●"/>
            </a:pPr>
            <a:r>
              <a:rPr lang="en-GB" sz="1200"/>
              <a:t>Service subscriptions: internet service, phone service, multiple lines, tech support, etc.</a:t>
            </a:r>
            <a:endParaRPr sz="1200"/>
          </a:p>
          <a:p>
            <a:pPr indent="-304800" lvl="0" marL="457200" rtl="0" algn="l">
              <a:spcBef>
                <a:spcPts val="0"/>
              </a:spcBef>
              <a:spcAft>
                <a:spcPts val="0"/>
              </a:spcAft>
              <a:buSzPts val="1200"/>
              <a:buChar char="●"/>
            </a:pPr>
            <a:r>
              <a:rPr lang="en-GB" sz="1200"/>
              <a:t>Target variable: Churn (Yes/No)</a:t>
            </a:r>
            <a:endParaRPr sz="1200"/>
          </a:p>
          <a:p>
            <a:pPr indent="0" lvl="0" marL="0" rtl="0" algn="l">
              <a:spcBef>
                <a:spcPts val="0"/>
              </a:spcBef>
              <a:spcAft>
                <a:spcPts val="0"/>
              </a:spcAft>
              <a:buNone/>
            </a:pPr>
            <a:r>
              <a:t/>
            </a:r>
            <a:endParaRPr sz="1200"/>
          </a:p>
          <a:p>
            <a:pPr indent="0" lvl="0" marL="0" rtl="0" algn="l">
              <a:lnSpc>
                <a:spcPct val="95000"/>
              </a:lnSpc>
              <a:spcBef>
                <a:spcPts val="0"/>
              </a:spcBef>
              <a:spcAft>
                <a:spcPts val="0"/>
              </a:spcAft>
              <a:buNone/>
            </a:pPr>
            <a:r>
              <a:rPr lang="en-GB" sz="1200"/>
              <a:t>Strong class imbalance: ~27% churn vs 73% non-churn.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70/30 train-test split used.</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lang="en-GB" sz="3000" u="sng"/>
              <a:t>Modern Models</a:t>
            </a:r>
            <a:endParaRPr b="1" sz="3000" u="sng"/>
          </a:p>
        </p:txBody>
      </p:sp>
      <p:sp>
        <p:nvSpPr>
          <p:cNvPr id="161" name="Google Shape;161;p17"/>
          <p:cNvSpPr txBox="1"/>
          <p:nvPr>
            <p:ph idx="1" type="body"/>
          </p:nvPr>
        </p:nvSpPr>
        <p:spPr>
          <a:xfrm>
            <a:off x="129100" y="1504450"/>
            <a:ext cx="8782200" cy="391200"/>
          </a:xfrm>
          <a:prstGeom prst="rect">
            <a:avLst/>
          </a:prstGeom>
          <a:ln cap="flat" cmpd="sng" w="9525">
            <a:solidFill>
              <a:srgbClr val="FF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rPr lang="en-GB" sz="1200"/>
              <a:t>Linear Discriminant Analysis (LDA) -</a:t>
            </a:r>
            <a:r>
              <a:rPr lang="en-GB" sz="1200"/>
              <a:t> interpretability and closed-form structure</a:t>
            </a:r>
            <a:endParaRPr sz="1200"/>
          </a:p>
        </p:txBody>
      </p:sp>
      <p:sp>
        <p:nvSpPr>
          <p:cNvPr id="162" name="Google Shape;162;p17"/>
          <p:cNvSpPr txBox="1"/>
          <p:nvPr>
            <p:ph idx="1" type="body"/>
          </p:nvPr>
        </p:nvSpPr>
        <p:spPr>
          <a:xfrm>
            <a:off x="129100" y="2202750"/>
            <a:ext cx="8248800" cy="391200"/>
          </a:xfrm>
          <a:prstGeom prst="rect">
            <a:avLst/>
          </a:prstGeom>
          <a:ln cap="flat" cmpd="sng" w="9525">
            <a:solidFill>
              <a:srgbClr val="FFFF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rPr lang="en-GB" sz="1200"/>
              <a:t>Decision Tree - Trees are fully non-parametric and can capture nonlinear interactions without requiring transformations</a:t>
            </a:r>
            <a:endParaRPr sz="1200"/>
          </a:p>
        </p:txBody>
      </p:sp>
      <p:sp>
        <p:nvSpPr>
          <p:cNvPr id="163" name="Google Shape;163;p17"/>
          <p:cNvSpPr txBox="1"/>
          <p:nvPr>
            <p:ph idx="1" type="body"/>
          </p:nvPr>
        </p:nvSpPr>
        <p:spPr>
          <a:xfrm>
            <a:off x="129100" y="4158350"/>
            <a:ext cx="8207400" cy="39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200"/>
              <a:t>Comparison metrics: accuracy, sensitivity (true positive), specificity (true negative) </a:t>
            </a:r>
            <a:endParaRPr sz="1200"/>
          </a:p>
        </p:txBody>
      </p:sp>
      <p:sp>
        <p:nvSpPr>
          <p:cNvPr id="164" name="Google Shape;164;p17"/>
          <p:cNvSpPr txBox="1"/>
          <p:nvPr>
            <p:ph idx="1" type="body"/>
          </p:nvPr>
        </p:nvSpPr>
        <p:spPr>
          <a:xfrm>
            <a:off x="129100" y="2901050"/>
            <a:ext cx="8248800" cy="494700"/>
          </a:xfrm>
          <a:prstGeom prst="rect">
            <a:avLst/>
          </a:prstGeom>
          <a:ln cap="flat" cmpd="sng" w="9525">
            <a:solidFill>
              <a:srgbClr val="00FF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SzPts val="1018"/>
              <a:buNone/>
            </a:pPr>
            <a:r>
              <a:rPr lang="en-GB" sz="1210"/>
              <a:t>Boosting (GBM) -  distribution = </a:t>
            </a:r>
            <a:r>
              <a:rPr lang="en-GB" sz="1210"/>
              <a:t>bournoulli </a:t>
            </a:r>
            <a:r>
              <a:rPr lang="en-GB" sz="1210"/>
              <a:t> , initial trees = 5000, shrinkage = 0.01, full training set</a:t>
            </a:r>
            <a:endParaRPr sz="1210"/>
          </a:p>
          <a:p>
            <a:pPr indent="0" lvl="0" marL="0" rtl="0" algn="l">
              <a:spcBef>
                <a:spcPts val="1200"/>
              </a:spcBef>
              <a:spcAft>
                <a:spcPts val="1200"/>
              </a:spcAft>
              <a:buSzPts val="1018"/>
              <a:buNone/>
            </a:pPr>
            <a:r>
              <a:t/>
            </a:r>
            <a:endParaRPr sz="1210"/>
          </a:p>
        </p:txBody>
      </p:sp>
      <p:sp>
        <p:nvSpPr>
          <p:cNvPr id="165" name="Google Shape;165;p17"/>
          <p:cNvSpPr txBox="1"/>
          <p:nvPr>
            <p:ph idx="1" type="body"/>
          </p:nvPr>
        </p:nvSpPr>
        <p:spPr>
          <a:xfrm>
            <a:off x="129100" y="3581450"/>
            <a:ext cx="8207400" cy="391200"/>
          </a:xfrm>
          <a:prstGeom prst="rect">
            <a:avLst/>
          </a:prstGeom>
          <a:ln cap="flat" cmpd="sng" w="9525">
            <a:solidFill>
              <a:srgbClr val="00FFFF"/>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rPr lang="en-GB" sz="1200"/>
              <a:t>Neural Network (MLP) </a:t>
            </a:r>
            <a:r>
              <a:rPr lang="en-GB" sz="1200"/>
              <a:t>- size = 5 , decay = 0.0005, maxit = 200</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ph type="title"/>
          </p:nvPr>
        </p:nvSpPr>
        <p:spPr>
          <a:xfrm>
            <a:off x="1297500" y="393750"/>
            <a:ext cx="20892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3000" u="sng"/>
              <a:t>Results</a:t>
            </a:r>
            <a:endParaRPr/>
          </a:p>
        </p:txBody>
      </p:sp>
      <p:sp>
        <p:nvSpPr>
          <p:cNvPr id="171" name="Google Shape;171;p18"/>
          <p:cNvSpPr txBox="1"/>
          <p:nvPr>
            <p:ph idx="1" type="body"/>
          </p:nvPr>
        </p:nvSpPr>
        <p:spPr>
          <a:xfrm>
            <a:off x="3980050" y="4092450"/>
            <a:ext cx="5035800" cy="51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200"/>
              <a:t>←Boosting revealed which </a:t>
            </a:r>
            <a:r>
              <a:rPr lang="en-GB" sz="1200"/>
              <a:t>variables</a:t>
            </a:r>
            <a:r>
              <a:rPr lang="en-GB" sz="1200"/>
              <a:t> were the strongest predictors</a:t>
            </a:r>
            <a:endParaRPr sz="1200"/>
          </a:p>
        </p:txBody>
      </p:sp>
      <p:pic>
        <p:nvPicPr>
          <p:cNvPr id="172" name="Google Shape;172;p18"/>
          <p:cNvPicPr preferRelativeResize="0"/>
          <p:nvPr/>
        </p:nvPicPr>
        <p:blipFill rotWithShape="1">
          <a:blip r:embed="rId3">
            <a:alphaModFix/>
          </a:blip>
          <a:srcRect b="2136" l="3017" r="2402" t="2050"/>
          <a:stretch/>
        </p:blipFill>
        <p:spPr>
          <a:xfrm>
            <a:off x="291025" y="1701750"/>
            <a:ext cx="3619724" cy="1504950"/>
          </a:xfrm>
          <a:prstGeom prst="rect">
            <a:avLst/>
          </a:prstGeom>
          <a:noFill/>
          <a:ln>
            <a:noFill/>
          </a:ln>
        </p:spPr>
      </p:pic>
      <p:pic>
        <p:nvPicPr>
          <p:cNvPr id="173" name="Google Shape;173;p18"/>
          <p:cNvPicPr preferRelativeResize="0"/>
          <p:nvPr/>
        </p:nvPicPr>
        <p:blipFill>
          <a:blip r:embed="rId4">
            <a:alphaModFix/>
          </a:blip>
          <a:stretch>
            <a:fillRect/>
          </a:stretch>
        </p:blipFill>
        <p:spPr>
          <a:xfrm>
            <a:off x="221713" y="3521025"/>
            <a:ext cx="3758350" cy="1268032"/>
          </a:xfrm>
          <a:prstGeom prst="rect">
            <a:avLst/>
          </a:prstGeom>
          <a:noFill/>
          <a:ln>
            <a:noFill/>
          </a:ln>
        </p:spPr>
      </p:pic>
      <p:sp>
        <p:nvSpPr>
          <p:cNvPr id="174" name="Google Shape;174;p18"/>
          <p:cNvSpPr txBox="1"/>
          <p:nvPr>
            <p:ph idx="1" type="body"/>
          </p:nvPr>
        </p:nvSpPr>
        <p:spPr>
          <a:xfrm>
            <a:off x="4024825" y="1581150"/>
            <a:ext cx="5076900" cy="137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t>Performance of models on the test set:</a:t>
            </a:r>
            <a:endParaRPr sz="1200"/>
          </a:p>
          <a:p>
            <a:pPr indent="-304800" lvl="0" marL="457200" rtl="0" algn="l">
              <a:spcBef>
                <a:spcPts val="1200"/>
              </a:spcBef>
              <a:spcAft>
                <a:spcPts val="0"/>
              </a:spcAft>
              <a:buSzPts val="1200"/>
              <a:buChar char="●"/>
            </a:pPr>
            <a:r>
              <a:rPr lang="en-GB" sz="1200"/>
              <a:t>LDA: Acc 0.808, </a:t>
            </a:r>
            <a:r>
              <a:rPr b="1" lang="en-GB" sz="1200"/>
              <a:t>Sens 0.570</a:t>
            </a:r>
            <a:r>
              <a:rPr lang="en-GB" sz="1200"/>
              <a:t>, Spec 0.894</a:t>
            </a:r>
            <a:endParaRPr sz="1200"/>
          </a:p>
          <a:p>
            <a:pPr indent="-304800" lvl="0" marL="457200" rtl="0" algn="l">
              <a:spcBef>
                <a:spcPts val="0"/>
              </a:spcBef>
              <a:spcAft>
                <a:spcPts val="0"/>
              </a:spcAft>
              <a:buSzPts val="1200"/>
              <a:buChar char="●"/>
            </a:pPr>
            <a:r>
              <a:rPr lang="en-GB" sz="1200"/>
              <a:t>Decision Tree: Acc 0.801, Sens 0.479, Spec 0.925</a:t>
            </a:r>
            <a:endParaRPr sz="1200"/>
          </a:p>
          <a:p>
            <a:pPr indent="-304800" lvl="0" marL="457200" rtl="0" algn="l">
              <a:spcBef>
                <a:spcPts val="0"/>
              </a:spcBef>
              <a:spcAft>
                <a:spcPts val="0"/>
              </a:spcAft>
              <a:buSzPts val="1200"/>
              <a:buChar char="●"/>
            </a:pPr>
            <a:r>
              <a:rPr lang="en-GB" sz="1200"/>
              <a:t>Boosting: </a:t>
            </a:r>
            <a:r>
              <a:rPr b="1" lang="en-GB" sz="1200"/>
              <a:t>Acc 0.818</a:t>
            </a:r>
            <a:r>
              <a:rPr lang="en-GB" sz="1200"/>
              <a:t>, Sens 0.504, </a:t>
            </a:r>
            <a:r>
              <a:rPr b="1" lang="en-GB" sz="1200"/>
              <a:t>Spec 0.932</a:t>
            </a:r>
            <a:endParaRPr b="1" sz="1200"/>
          </a:p>
          <a:p>
            <a:pPr indent="-304800" lvl="0" marL="457200" rtl="0" algn="l">
              <a:spcBef>
                <a:spcPts val="0"/>
              </a:spcBef>
              <a:spcAft>
                <a:spcPts val="0"/>
              </a:spcAft>
              <a:buSzPts val="1200"/>
              <a:buChar char="●"/>
            </a:pPr>
            <a:r>
              <a:rPr lang="en-GB" sz="1200"/>
              <a:t>Neural Network: Acc 0.814, Sens 0.493, Spec 0.930</a:t>
            </a:r>
            <a:endParaRPr sz="1200"/>
          </a:p>
        </p:txBody>
      </p:sp>
      <p:sp>
        <p:nvSpPr>
          <p:cNvPr id="175" name="Google Shape;175;p18"/>
          <p:cNvSpPr txBox="1"/>
          <p:nvPr>
            <p:ph idx="1" type="body"/>
          </p:nvPr>
        </p:nvSpPr>
        <p:spPr>
          <a:xfrm>
            <a:off x="4103875" y="3177450"/>
            <a:ext cx="4800600" cy="696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200"/>
              <a:t>Boosting had the best </a:t>
            </a:r>
            <a:r>
              <a:rPr lang="en-GB" sz="1200"/>
              <a:t>accuracy and specificity score (best overall)</a:t>
            </a:r>
            <a:endParaRPr sz="1200"/>
          </a:p>
          <a:p>
            <a:pPr indent="0" lvl="0" marL="0" rtl="0" algn="l">
              <a:spcBef>
                <a:spcPts val="1200"/>
              </a:spcBef>
              <a:spcAft>
                <a:spcPts val="1200"/>
              </a:spcAft>
              <a:buNone/>
            </a:pPr>
            <a:r>
              <a:rPr lang="en-GB" sz="1200"/>
              <a:t>LDA had the best sensitivity score (best solely to detect churners)</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